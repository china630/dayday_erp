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ERA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6288"/>
            <a:ext cx="51377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  <a:latin typeface="Arial" panose="020B0604020202020204"/>
              </a:defRPr>
            </a:pPr>
            <a:r>
              <a:rPr b="1"/>
              <a:t>Облачная операционная система для бизнеса нового поколения.</a:t>
            </a:r>
            <a:endParaRPr b="1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Проблема рынка: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Азербайджанский МСБ застрял между перегруженной 1С (дорого внедрять) и Excel (легко потерять данные). Нет единой, понятной облачной системы на AZ/RU языках.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Наше решение: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Модульная SaaS-платформа. Строгая финансовая логика в современном, интуитивно понятном интерфейсе.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Статус проекта: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General Availability (GA). Платформа готова к коммерческому запуску и масштабированию.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GA-статус и production-ready стек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выраженная боль МСБ + локальный fit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рабочий AZ/RU интерфейс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запуск первой платной когорты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Цель активации: &lt; 7 дней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Цель конверсии пилота: &gt; 20%</a:t>
            </a:r>
          </a:p>
        </p:txBody>
      </p:sp>
      <p:pic>
        <p:nvPicPr>
          <p:cNvPr id="11" name="Picture 10" descr="01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748155"/>
            <a:ext cx="3108960" cy="33728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Бескомпромиссная архитектура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900">
                <a:solidFill>
                  <a:srgbClr val="2E3A46"/>
                </a:solidFill>
                <a:latin typeface="Arial" panose="020B0604020202020204"/>
              </a:defRPr>
            </a:pPr>
            <a:r>
              <a:t>Мы не просто "нарисовали интерфейс" — мы построили тяжелое финансовое ядро.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Мультитенантность: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Жесткая изоляция данных (одна компания = один VÖEN).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Транзакционность: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Все финансовые операции и проводки защищены от разрывов на уровне базы данных.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Стандарты учета: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Поддержка двойной записи и переключение между национальными стандартами (NAS) и МСФО (IFRS).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строгая мультитенантность + ACID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слой доверия для финопераций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архитектура NAS/IFRS-ready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коннекторы банков и e-taxes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Цель надежности: 99.9%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Критичные инциденты: близко к нулю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Готовый функционал "под ключ"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Банк и Касса: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Учет наличных (ПКО/РКО), мультивалютные счета, авансовые отчеты.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Склад и Производство: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Многоскладской учет, инвентаризация, рецептуры с защитой от цикличности.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HR и Зарплата: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Штатное расписание, структура департаментов, табелирование и автоматический расчет З/П.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CRM и Контрагенты: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Единый реестр клиентов и поставщиков с привязкой к VÖEN.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единое учетное ядро модулей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ценность с первого дня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реальные сценарии, не mockup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ускоренный onboarding-плейбук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Time-to-value: &lt; 14 дней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Cross-module adoption: &gt;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B2B SaaS Конструктор (Подписка)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Принцип LEGO: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Клиент платит только за те модули, которыми пользуется.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Автоматизация биллинга: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Встроенный коммерческий контур. Система сама считает стоимость подписок (включая Pro-rata за неполный месяц) и управляет доступом.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Удержание (Retention):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Перенос бухгалтерии, склада и кадров в ERA ERP гарантирует максимальный LTV (пожизненную ценность клиента) и минимальный отток.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feature-gating и авто-биллинг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рост ARPU через модули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pro-rata и контроль доступа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upsell по модульной активации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NRR цель: &gt; 110%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Attach-rate: &gt; 2 модуля/клиент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Азербайджанский рынок МСБ (B2B)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Объем рынка (TAM/SAM):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Из 424+ тыс. субъектов МСБ наша целевая аудитория (компании со штатом и безналичным оборотом) — это около 45 000 активных предприятий.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План захвата (Год 1):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Занять 1% целевого рынка (450 компаний). При среднем чеке 100 AZN/мес это обеспечит MRR (регулярную выручку) в 45,000 AZN.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План захвата (Год 2):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Масштабирование до 5% рынка (2 250 компаний) через партнерские сети бухгалтеров-аутсорсеров (MRR: 225,000 AZN).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локальный compliance-by-design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рост из SAM, не абстрактного TAM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партнерский канал определен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достижение 1% SAM за 1 год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Год 1: 450 компаний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MRR цель: 45,000 AZN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Новая вертикаль — Edu-ERP (Школы)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Адаптация нашего ядра для решения главных проблем Министерства образования и директоров государственных школ:</a:t>
            </a:r>
            <a:endParaRPr sz="1900" b="1">
              <a:solidFill>
                <a:srgbClr val="34495E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Сложная тарификация: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Гибкий расчет академической нагрузки и управление ставками преподавателей.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Динамический контроль посещаемости: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Интеграция учета присутствия с учебным расписанием.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Прозрачная инвентаризация: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Строгий, проверяемый учет государственного оборудования, учебных материалов и материальных ценностей.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повторное использование ядра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выход в смежный GovTech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ясная карта болей школ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пилот в госсекторе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Пилот: 1-3 учреждения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Трек: масштабирование через госканал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Раунд $50,000 на 6 месяцев (Runway)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4495E"/>
                </a:solidFill>
                <a:latin typeface="Arial" panose="020B0604020202020204"/>
              </a:rPr>
              <a:t>Инвестиции рассчитаны на агрессивную доработку модулей и выход на первые коммерческие продажи. (Эквивалент:</a:t>
            </a:r>
            <a:r>
              <a:rPr sz="1600">
                <a:solidFill>
                  <a:srgbClr val="2E3A46"/>
                </a:solidFill>
                <a:latin typeface="Arial" panose="020B0604020202020204"/>
              </a:rPr>
              <a:t> ~85,000 AZN).</a:t>
            </a:r>
            <a:endParaRPr sz="16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34495E"/>
                </a:solidFill>
                <a:latin typeface="Arial" panose="020B0604020202020204"/>
              </a:rPr>
              <a:t>Технический ФОТ (21% | ~$10,600):</a:t>
            </a:r>
            <a:r>
              <a:rPr sz="1600">
                <a:solidFill>
                  <a:srgbClr val="2E3A46"/>
                </a:solidFill>
                <a:latin typeface="Arial" panose="020B0604020202020204"/>
              </a:rPr>
              <a:t> Разработчик/Эксперт ERP — 18,000 AZN (3,000 AZN/мес × 6 мес).</a:t>
            </a:r>
            <a:endParaRPr sz="16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34495E"/>
                </a:solidFill>
                <a:latin typeface="Arial" panose="020B0604020202020204"/>
              </a:rPr>
              <a:t>Комплаенс и Локализация (7% | ~$3,500):</a:t>
            </a:r>
            <a:r>
              <a:rPr sz="1600">
                <a:solidFill>
                  <a:srgbClr val="2E3A46"/>
                </a:solidFill>
                <a:latin typeface="Arial" panose="020B0604020202020204"/>
              </a:rPr>
              <a:t> Бухгалтер-консультант — 6,000 AZN (1,000 AZN/мес × 6 мес) для гарантии соответствия налоговому кодексу АР.</a:t>
            </a:r>
            <a:endParaRPr sz="16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34495E"/>
                </a:solidFill>
                <a:latin typeface="Arial" panose="020B0604020202020204"/>
              </a:rPr>
              <a:t>Инфраструктура и ИИ (30% | $15,000):</a:t>
            </a:r>
            <a:r>
              <a:rPr sz="1600">
                <a:solidFill>
                  <a:srgbClr val="2E3A46"/>
                </a:solidFill>
                <a:latin typeface="Arial" panose="020B0604020202020204"/>
              </a:rPr>
              <a:t> Оплата API ИИ-моделей (Claude, Gemini, DeepSeek) и облачных серверов для кратного ускорения написания кода.</a:t>
            </a:r>
            <a:endParaRPr sz="16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34495E"/>
                </a:solidFill>
                <a:latin typeface="Arial" panose="020B0604020202020204"/>
              </a:rPr>
              <a:t>Go-to-Market и Резерв (42% | ~$20,900):</a:t>
            </a:r>
            <a:r>
              <a:rPr sz="1600">
                <a:solidFill>
                  <a:srgbClr val="2E3A46"/>
                </a:solidFill>
                <a:latin typeface="Arial" panose="020B0604020202020204"/>
              </a:rPr>
              <a:t> Маркетинговая упаковка, бюджет на запуск прямых продаж, юридическое оформление и финансовая подушка.</a:t>
            </a:r>
            <a:endParaRPr sz="16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капитал ускоряет hardening платформы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бюджет привязан к revenue ramp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сбалансированный план на 6 мес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платные пилоты и repeatable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Runway: 6 месяцев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Цель: первые recurring-контракты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64592"/>
            <a:ext cx="1143000" cy="34747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Слайд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4495E"/>
                </a:solidFill>
                <a:latin typeface="Arial" panose="020B0604020202020204"/>
              </a:defRPr>
            </a:pPr>
            <a:r>
              <a:t>Горизонт 12 месяцев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Технологии: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Прямая интеграция с государственным порталом e-taxes и API азербайджанских банков.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Продажи: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Выход на стабильный поток новых B2B-подписок. Запуск пилотного проекта Edu-ERP в государственном секторе.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34495E"/>
                </a:solidFill>
                <a:latin typeface="Arial" panose="020B0604020202020204"/>
              </a:rPr>
              <a:t>Команда:</a:t>
            </a:r>
            <a:r>
              <a:rPr sz="1900">
                <a:solidFill>
                  <a:srgbClr val="2E3A46"/>
                </a:solidFill>
                <a:latin typeface="Arial" panose="020B0604020202020204"/>
              </a:rPr>
              <a:t> Продукт создается экспертами на стыке IT-архитектуры, логистики и бизнес-процессов, понимающими реалии локального рынка.</a:t>
            </a:r>
            <a:endParaRPr sz="1900">
              <a:solidFill>
                <a:srgbClr val="2E3A46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429000" cy="5074920"/>
          </a:xfrm>
          <a:prstGeom prst="roundRect">
            <a:avLst/>
          </a:prstGeom>
          <a:solidFill>
            <a:srgbClr val="F7FBFF"/>
          </a:solidFill>
          <a:ln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Техсигнал: интеграции формируют moat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Бизнес-сигнал: MRR + retention flywheel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Сигнал исполнения: доменная экспертная команда</a:t>
            </a:r>
          </a:p>
          <a:p>
            <a:pPr>
              <a:spcAft>
                <a:spcPts val="400"/>
              </a:spcAft>
              <a:defRPr sz="1150">
                <a:solidFill>
                  <a:srgbClr val="2E3A46"/>
                </a:solidFill>
                <a:latin typeface="Arial" panose="020B0604020202020204"/>
              </a:defRPr>
            </a:pPr>
            <a:r>
              <a:t>- Веха: KPI-готовность к следующему раунду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3429000" cy="47548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Ключевые заметки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5074920"/>
            <a:ext cx="3063240" cy="1051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2980B9"/>
                </a:solidFill>
                <a:latin typeface="Arial" panose="020B0604020202020204"/>
              </a:defRPr>
            </a:pPr>
            <a:r>
              <a:t>Метрики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Банковские интеграции: топ-банки АР</a:t>
            </a:r>
          </a:p>
          <a:p>
            <a:pPr>
              <a:spcAft>
                <a:spcPts val="200"/>
              </a:spcAft>
              <a:defRPr sz="1050">
                <a:solidFill>
                  <a:srgbClr val="2E3A46"/>
                </a:solidFill>
                <a:latin typeface="Arial" panose="020B0604020202020204"/>
              </a:defRPr>
            </a:pPr>
            <a:r>
              <a:t>- Round readiness: KPI-панель к 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583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F8C8D"/>
                </a:solidFill>
                <a:latin typeface="Arial" panose="020B0604020202020204"/>
              </a:defRPr>
            </a:pPr>
            <a:r>
              <a:t>ERA ERP | Investment Teaser | Hybrid IT Investor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6068</Words>
  <Application>WPS Presentation</Application>
  <PresentationFormat>On-screen Show (4:3)</PresentationFormat>
  <Paragraphs>196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Chingiz Shirinov</cp:lastModifiedBy>
  <cp:revision>3</cp:revision>
  <dcterms:created xsi:type="dcterms:W3CDTF">2013-01-27T09:14:00Z</dcterms:created>
  <dcterms:modified xsi:type="dcterms:W3CDTF">2026-04-10T07:33:48Z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131B2D5D00944827A8A14DE44E4F63D1_12</vt:lpwstr>
  </property>
  <property fmtid="{D5CDD505-2E9C-101B-9397-08002B2CF9AE}" pid="3" name="KSOProductBuildVer">
    <vt:lpwstr>1049-12.2.0.23196</vt:lpwstr>
  </property>
</Properties>
</file>